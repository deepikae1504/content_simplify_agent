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90" r:id="rId2"/>
    <p:sldId id="291" r:id="rId3"/>
    <p:sldId id="310" r:id="rId4"/>
    <p:sldId id="293" r:id="rId5"/>
    <p:sldId id="294" r:id="rId6"/>
    <p:sldId id="295" r:id="rId7"/>
    <p:sldId id="296" r:id="rId8"/>
    <p:sldId id="297" r:id="rId9"/>
    <p:sldId id="319" r:id="rId10"/>
    <p:sldId id="298" r:id="rId11"/>
    <p:sldId id="299" r:id="rId12"/>
    <p:sldId id="300" r:id="rId13"/>
    <p:sldId id="301" r:id="rId14"/>
    <p:sldId id="302" r:id="rId15"/>
    <p:sldId id="303" r:id="rId16"/>
    <p:sldId id="311" r:id="rId17"/>
    <p:sldId id="312" r:id="rId18"/>
    <p:sldId id="313" r:id="rId19"/>
    <p:sldId id="314" r:id="rId20"/>
    <p:sldId id="315" r:id="rId21"/>
    <p:sldId id="316" r:id="rId22"/>
    <p:sldId id="317" r:id="rId23"/>
    <p:sldId id="318" r:id="rId24"/>
    <p:sldId id="304" r:id="rId25"/>
    <p:sldId id="305" r:id="rId26"/>
    <p:sldId id="306" r:id="rId27"/>
    <p:sldId id="307" r:id="rId28"/>
    <p:sldId id="308" r:id="rId29"/>
    <p:sldId id="309"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190849D-4EF5-288D-776C-A857AC9DD38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DE545DE3-079F-A497-5AA4-BBC73EB065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1CB0DB84-C027-EA50-9DEF-16A355C238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3448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68D5ADC-2D92-C5DF-44F2-1578B5F3054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58A7CF3-59F5-0B5A-B29C-7E15B9B4D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81D9A14-4B89-F4E8-1781-E244E95162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1227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929ED840-A246-1AD1-2C0C-2DD13DEE4D7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4C58327-9E47-6E7C-05F5-C9A4BCD1EB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F35CE04-054C-DE27-255F-ABBCEE0BA0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026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A5A2F80-65AA-4BD8-4609-4829899C8E3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D27C3270-B986-6AA9-967E-291B3B21C9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90D93A9-222F-8151-1A44-330D28F95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3093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0387A7A0-6DEB-0A7A-9195-F8C7499702C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05D2060-6991-D1BD-B1C8-A08A2BEBF6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9AF2834-6B63-C036-712A-6B76AEE0CA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7576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7EE198F1-FFD6-2B94-B6BE-AF04DB0EE0D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2EA58F3-23B9-236F-76D0-490D121B74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E2E669C-A109-1FB7-5A34-6FDE66ACDF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255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E7B3231F-75DB-DE16-9FF6-B104201A2CE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78133C3-0829-FA99-1C9E-E5581002A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82E4111-CE35-2A61-6807-F73C150657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7882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7394721C-BB67-40B6-CAF1-F931C89E4A8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0B640A7-36EE-4D46-8B78-446CE62E96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FB8C507-0BF3-BECE-3E64-246DAF7D5D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0385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00FDFA6-95F4-9500-D81B-5EDD63B3636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C9BCD40-290B-2FE0-ED32-0636E8DFC2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267FD76-7BEB-E141-E593-28D2178B9C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607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74273889"/>
              </p:ext>
            </p:extLst>
          </p:nvPr>
        </p:nvGraphicFramePr>
        <p:xfrm>
          <a:off x="1299257" y="2600314"/>
          <a:ext cx="9394989" cy="2796961"/>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256089">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540872">
                <a:tc>
                  <a:txBody>
                    <a:bodyPr/>
                    <a:lstStyle/>
                    <a:p>
                      <a:pPr marL="0" marR="0" lvl="0" indent="0" algn="l" rtl="0">
                        <a:spcBef>
                          <a:spcPts val="0"/>
                        </a:spcBef>
                        <a:spcAft>
                          <a:spcPts val="0"/>
                        </a:spcAft>
                        <a:buNone/>
                      </a:pPr>
                      <a:r>
                        <a:rPr lang="en-US" dirty="0"/>
                        <a:t>DEEPIKA 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Deepikae.aids2024@grt.edu.in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9342932478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b="1" dirty="0"/>
              <a:t>LEARNIQ-Course Content Simplification Agent</a:t>
            </a:r>
          </a:p>
          <a:p>
            <a:endParaRPr lang="en-IN" sz="2400" b="1" dirty="0">
              <a:highlight>
                <a:srgbClr val="FFFF00"/>
              </a:highlight>
            </a:endParaRPr>
          </a:p>
        </p:txBody>
      </p:sp>
      <p:pic>
        <p:nvPicPr>
          <p:cNvPr id="8" name="Picture 7">
            <a:extLst>
              <a:ext uri="{FF2B5EF4-FFF2-40B4-BE49-F238E27FC236}">
                <a16:creationId xmlns:a16="http://schemas.microsoft.com/office/drawing/2014/main" id="{D26AA947-3173-A915-3FDC-8F1D01511AFE}"/>
              </a:ext>
            </a:extLst>
          </p:cNvPr>
          <p:cNvPicPr>
            <a:picLocks noChangeAspect="1"/>
          </p:cNvPicPr>
          <p:nvPr/>
        </p:nvPicPr>
        <p:blipFill>
          <a:blip r:embed="rId3"/>
          <a:stretch>
            <a:fillRect/>
          </a:stretch>
        </p:blipFill>
        <p:spPr>
          <a:xfrm>
            <a:off x="3863987" y="4051141"/>
            <a:ext cx="1383892" cy="114691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747FAE1-75BE-4D1E-B483-D0BC5EA90E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5C74F5-972A-02F1-4D2F-A33E3FDEDDC0}"/>
              </a:ext>
            </a:extLst>
          </p:cNvPr>
          <p:cNvSpPr txBox="1"/>
          <p:nvPr/>
        </p:nvSpPr>
        <p:spPr>
          <a:xfrm>
            <a:off x="576072" y="1234440"/>
            <a:ext cx="10607040" cy="5940088"/>
          </a:xfrm>
          <a:prstGeom prst="rect">
            <a:avLst/>
          </a:prstGeom>
          <a:noFill/>
        </p:spPr>
        <p:txBody>
          <a:bodyPr wrap="square" rtlCol="0">
            <a:spAutoFit/>
          </a:bodyPr>
          <a:lstStyle/>
          <a:p>
            <a:pPr fontAlgn="base"/>
            <a:r>
              <a:rPr lang="en-US" sz="1600" b="1" dirty="0"/>
              <a:t>Problem Statement : course content simplification agent</a:t>
            </a:r>
          </a:p>
          <a:p>
            <a:r>
              <a:rPr lang="en-IN" sz="1600" b="1" dirty="0"/>
              <a:t>The Challenge</a:t>
            </a:r>
          </a:p>
          <a:p>
            <a:r>
              <a:rPr lang="en-IN" sz="1600" dirty="0"/>
              <a:t>Students often find it difficult to understand academic content when it contains </a:t>
            </a:r>
            <a:r>
              <a:rPr lang="en-IN" sz="1600" b="1" dirty="0"/>
              <a:t>complex words, technical terms, or lengthy explanations</a:t>
            </a:r>
            <a:r>
              <a:rPr lang="en-IN" sz="1600" dirty="0"/>
              <a:t>. Faculty notes and textbooks are usually written at one level, even though students may have different levels of knowledge. Because of this, some students may take more time to understand the same concept.</a:t>
            </a:r>
          </a:p>
          <a:p>
            <a:r>
              <a:rPr lang="en-IN" sz="1600" b="1" dirty="0"/>
              <a:t>The Objective</a:t>
            </a:r>
          </a:p>
          <a:p>
            <a:r>
              <a:rPr lang="en-IN" sz="1600" dirty="0"/>
              <a:t>Build an </a:t>
            </a:r>
            <a:r>
              <a:rPr lang="en-IN" sz="1600" b="1" dirty="0"/>
              <a:t>AI-powered Course Content Simplification Agent</a:t>
            </a:r>
            <a:r>
              <a:rPr lang="en-IN" sz="1600" dirty="0"/>
              <a:t> that helps students understand academic topics according to their </a:t>
            </a:r>
            <a:r>
              <a:rPr lang="en-IN" sz="1600" b="1" dirty="0"/>
              <a:t>own learning level</a:t>
            </a:r>
            <a:r>
              <a:rPr lang="en-IN" sz="1600" dirty="0"/>
              <a:t>. The solution should:</a:t>
            </a:r>
          </a:p>
          <a:p>
            <a:r>
              <a:rPr lang="en-IN" sz="1600" dirty="0"/>
              <a:t>• </a:t>
            </a:r>
            <a:r>
              <a:rPr lang="en-IN" sz="1600" b="1" dirty="0"/>
              <a:t>Different Learning Levels</a:t>
            </a:r>
            <a:r>
              <a:rPr lang="en-IN" sz="1600" dirty="0"/>
              <a:t> – Explain the same topic at </a:t>
            </a:r>
            <a:r>
              <a:rPr lang="en-IN" sz="1600" b="1" dirty="0"/>
              <a:t>Beginner, Intermediate, Advanced, or Expert</a:t>
            </a:r>
            <a:r>
              <a:rPr lang="en-IN" sz="1600" dirty="0"/>
              <a:t> level.</a:t>
            </a:r>
          </a:p>
          <a:p>
            <a:r>
              <a:rPr lang="en-IN" sz="1600" dirty="0"/>
              <a:t>• </a:t>
            </a:r>
            <a:r>
              <a:rPr lang="en-IN" sz="1600" b="1" dirty="0"/>
              <a:t>Simple and Clear Explanations</a:t>
            </a:r>
            <a:r>
              <a:rPr lang="en-IN" sz="1600" dirty="0"/>
              <a:t> – Convert difficult academic content into explanations that are easier to understand while keeping the </a:t>
            </a:r>
            <a:r>
              <a:rPr lang="en-IN" sz="1600" b="1" dirty="0"/>
              <a:t>original meaning</a:t>
            </a:r>
            <a:r>
              <a:rPr lang="en-IN" sz="1600" dirty="0"/>
              <a:t>.</a:t>
            </a:r>
          </a:p>
          <a:p>
            <a:r>
              <a:rPr lang="en-IN" sz="1600" dirty="0"/>
              <a:t>• </a:t>
            </a:r>
            <a:r>
              <a:rPr lang="en-IN" sz="1600" b="1" dirty="0"/>
              <a:t>Helpful Learning Content</a:t>
            </a:r>
            <a:r>
              <a:rPr lang="en-IN" sz="1600" dirty="0"/>
              <a:t> – Provide </a:t>
            </a:r>
            <a:r>
              <a:rPr lang="en-IN" sz="1600" b="1" dirty="0"/>
              <a:t>key concepts, important terms, real-world analogies, examples, and common misconceptions</a:t>
            </a:r>
            <a:r>
              <a:rPr lang="en-IN" sz="1600" dirty="0"/>
              <a:t>.</a:t>
            </a:r>
          </a:p>
          <a:p>
            <a:r>
              <a:rPr lang="en-IN" sz="1600" dirty="0"/>
              <a:t>• </a:t>
            </a:r>
            <a:r>
              <a:rPr lang="en-IN" sz="1600" b="1" dirty="0"/>
              <a:t>Interactive Learning</a:t>
            </a:r>
            <a:r>
              <a:rPr lang="en-IN" sz="1600" dirty="0"/>
              <a:t> – Use </a:t>
            </a:r>
            <a:r>
              <a:rPr lang="en-IN" sz="1600" b="1" dirty="0"/>
              <a:t>flashcards</a:t>
            </a:r>
            <a:r>
              <a:rPr lang="en-IN" sz="1600" dirty="0"/>
              <a:t> to help students understand and remember important terms.</a:t>
            </a:r>
          </a:p>
          <a:p>
            <a:r>
              <a:rPr lang="en-IN" sz="1600" dirty="0"/>
              <a:t>• </a:t>
            </a:r>
            <a:r>
              <a:rPr lang="en-IN" sz="1600" b="1" dirty="0"/>
              <a:t>Quick Quiz</a:t>
            </a:r>
            <a:r>
              <a:rPr lang="en-IN" sz="1600" dirty="0"/>
              <a:t> – Give a </a:t>
            </a:r>
            <a:r>
              <a:rPr lang="en-IN" sz="1600" b="1" dirty="0"/>
              <a:t>3-question quiz</a:t>
            </a:r>
            <a:r>
              <a:rPr lang="en-IN" sz="1600" dirty="0"/>
              <a:t> with multiple-choice options, instant feedback, and a final score.</a:t>
            </a:r>
          </a:p>
          <a:p>
            <a:r>
              <a:rPr lang="en-IN" sz="1600" dirty="0"/>
              <a:t>• </a:t>
            </a:r>
            <a:r>
              <a:rPr lang="en-IN" sz="1600" b="1" dirty="0"/>
              <a:t>Content Adaptation</a:t>
            </a:r>
            <a:r>
              <a:rPr lang="en-IN" sz="1600" dirty="0"/>
              <a:t> – Use </a:t>
            </a:r>
            <a:r>
              <a:rPr lang="en-IN" sz="1600" b="1" dirty="0"/>
              <a:t>IBM Granite</a:t>
            </a:r>
            <a:r>
              <a:rPr lang="en-IN" sz="1600" dirty="0"/>
              <a:t> to change the explanation according to the selected level.</a:t>
            </a:r>
          </a:p>
          <a:p>
            <a:r>
              <a:rPr lang="en-IN" sz="1600" dirty="0"/>
              <a:t>• </a:t>
            </a:r>
            <a:r>
              <a:rPr lang="en-IN" sz="1600" b="1" dirty="0"/>
              <a:t>Learning Support</a:t>
            </a:r>
            <a:r>
              <a:rPr lang="en-IN" sz="1600" dirty="0"/>
              <a:t> – Organize the generated content into concepts, terms, examples, analogies, and misconceptions.</a:t>
            </a:r>
          </a:p>
          <a:p>
            <a:r>
              <a:rPr lang="en-IN" sz="1600" dirty="0"/>
              <a:t>• </a:t>
            </a:r>
            <a:r>
              <a:rPr lang="en-IN" sz="1600" b="1" dirty="0"/>
              <a:t>Assessment</a:t>
            </a:r>
            <a:r>
              <a:rPr lang="en-IN" sz="1600" dirty="0"/>
              <a:t> – Generate a short quiz to check the student's understanding.</a:t>
            </a:r>
          </a:p>
          <a:p>
            <a:r>
              <a:rPr lang="en-IN" sz="1600" dirty="0"/>
              <a:t>• </a:t>
            </a:r>
            <a:r>
              <a:rPr lang="en-IN" sz="1600" b="1" dirty="0"/>
              <a:t>Personalized Learning</a:t>
            </a:r>
            <a:r>
              <a:rPr lang="en-IN" sz="1600" dirty="0"/>
              <a:t> – Let students try the </a:t>
            </a:r>
            <a:r>
              <a:rPr lang="en-IN" sz="1600" b="1" dirty="0"/>
              <a:t>same topic at different levels</a:t>
            </a:r>
            <a:r>
              <a:rPr lang="en-IN" sz="1600" dirty="0"/>
              <a:t> based on their knowledge and learning needs.</a:t>
            </a:r>
          </a:p>
          <a:p>
            <a:pPr fontAlgn="base"/>
            <a:endParaRPr lang="en-US" dirty="0"/>
          </a:p>
          <a:p>
            <a:endParaRPr lang="en-IN" dirty="0"/>
          </a:p>
        </p:txBody>
      </p:sp>
      <p:sp>
        <p:nvSpPr>
          <p:cNvPr id="3" name="TextBox 2">
            <a:extLst>
              <a:ext uri="{FF2B5EF4-FFF2-40B4-BE49-F238E27FC236}">
                <a16:creationId xmlns:a16="http://schemas.microsoft.com/office/drawing/2014/main" id="{A1541484-13CF-8788-3A99-085EBE719495}"/>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3118829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786199"/>
          </a:xfrm>
          <a:prstGeom prst="rect">
            <a:avLst/>
          </a:prstGeom>
          <a:noFill/>
        </p:spPr>
        <p:txBody>
          <a:bodyPr wrap="square" rtlCol="0">
            <a:spAutoFit/>
          </a:bodyPr>
          <a:lstStyle/>
          <a:p>
            <a:r>
              <a:rPr lang="en-IN" sz="1800" b="1" dirty="0"/>
              <a:t>AI-Powered LEARNIQ</a:t>
            </a:r>
          </a:p>
          <a:p>
            <a:pPr marL="285750" indent="-285750">
              <a:buFont typeface="Arial" panose="020B0604020202020204" pitchFamily="34" charset="0"/>
              <a:buChar char="•"/>
            </a:pPr>
            <a:r>
              <a:rPr lang="en-IN" sz="1800" dirty="0"/>
              <a:t>The proposed solution is an </a:t>
            </a:r>
            <a:r>
              <a:rPr lang="en-IN" sz="1800" b="1" dirty="0"/>
              <a:t>AI-powered Course Content Simplification Agent</a:t>
            </a:r>
            <a:r>
              <a:rPr lang="en-IN" sz="1800" dirty="0"/>
              <a:t> built using </a:t>
            </a:r>
            <a:r>
              <a:rPr lang="en-IN" sz="1800" b="1" dirty="0"/>
              <a:t>IBM Bob, IBM watsonx.ai, and IBM Granite</a:t>
            </a:r>
            <a:r>
              <a:rPr lang="en-IN" sz="1800" dirty="0"/>
              <a:t> to provide personalized learning support.</a:t>
            </a:r>
          </a:p>
          <a:p>
            <a:pPr marL="285750" indent="-285750">
              <a:buFont typeface="Arial" panose="020B0604020202020204" pitchFamily="34" charset="0"/>
              <a:buChar char="•"/>
            </a:pPr>
            <a:r>
              <a:rPr lang="en-IN" sz="1800" dirty="0"/>
              <a:t>The system takes </a:t>
            </a:r>
            <a:r>
              <a:rPr lang="en-IN" sz="1800" b="1" dirty="0"/>
              <a:t>academic content and the student's selected proficiency level</a:t>
            </a:r>
            <a:r>
              <a:rPr lang="en-IN" sz="1800" dirty="0"/>
              <a:t> — </a:t>
            </a:r>
            <a:r>
              <a:rPr lang="en-IN" sz="1800" b="1" dirty="0"/>
              <a:t>Beginner, Intermediate, Advanced, or Expert</a:t>
            </a:r>
            <a:r>
              <a:rPr lang="en-IN" sz="1800" dirty="0"/>
              <a:t> — and adapts the explanation while preserving the original meaning.</a:t>
            </a:r>
          </a:p>
          <a:p>
            <a:pPr marL="285750" indent="-285750">
              <a:buFont typeface="Arial" panose="020B0604020202020204" pitchFamily="34" charset="0"/>
              <a:buChar char="•"/>
            </a:pPr>
            <a:r>
              <a:rPr lang="en-IN" sz="1800" dirty="0"/>
              <a:t>The solution provides:</a:t>
            </a:r>
          </a:p>
          <a:p>
            <a:pPr marL="285750" indent="-285750">
              <a:buFont typeface="Arial" panose="020B0604020202020204" pitchFamily="34" charset="0"/>
              <a:buChar char="•"/>
            </a:pPr>
            <a:r>
              <a:rPr lang="en-IN" sz="1800" b="1" dirty="0"/>
              <a:t>Adapted Explanation</a:t>
            </a:r>
            <a:r>
              <a:rPr lang="en-IN" sz="1800" dirty="0"/>
              <a:t> – Explains the topic according to the selected learning level.</a:t>
            </a:r>
          </a:p>
          <a:p>
            <a:pPr marL="285750" indent="-285750">
              <a:buFont typeface="Arial" panose="020B0604020202020204" pitchFamily="34" charset="0"/>
              <a:buChar char="•"/>
            </a:pPr>
            <a:r>
              <a:rPr lang="en-IN" sz="1800" b="1" dirty="0"/>
              <a:t>Key Concepts &amp; Important Terms</a:t>
            </a:r>
            <a:r>
              <a:rPr lang="en-IN" sz="1800" dirty="0"/>
              <a:t> – Highlights the main ideas and technical terms using interactive flashcards.</a:t>
            </a:r>
          </a:p>
          <a:p>
            <a:pPr marL="285750" indent="-285750">
              <a:buFont typeface="Arial" panose="020B0604020202020204" pitchFamily="34" charset="0"/>
              <a:buChar char="•"/>
            </a:pPr>
            <a:r>
              <a:rPr lang="en-IN" sz="1800" b="1" dirty="0"/>
              <a:t>Analogy &amp; Example</a:t>
            </a:r>
            <a:r>
              <a:rPr lang="en-IN" sz="1800" dirty="0"/>
              <a:t> – Makes difficult concepts easier to understand through familiar examples.</a:t>
            </a:r>
          </a:p>
          <a:p>
            <a:pPr marL="285750" indent="-285750">
              <a:buFont typeface="Arial" panose="020B0604020202020204" pitchFamily="34" charset="0"/>
              <a:buChar char="•"/>
            </a:pPr>
            <a:r>
              <a:rPr lang="en-IN" sz="1800" b="1" dirty="0"/>
              <a:t>Common Misconception</a:t>
            </a:r>
            <a:r>
              <a:rPr lang="en-IN" sz="1800" dirty="0"/>
              <a:t> – Identifies possible misunderstandings about the topic.</a:t>
            </a:r>
          </a:p>
          <a:p>
            <a:pPr marL="285750" indent="-285750">
              <a:buFont typeface="Arial" panose="020B0604020202020204" pitchFamily="34" charset="0"/>
              <a:buChar char="•"/>
            </a:pPr>
            <a:r>
              <a:rPr lang="en-IN" sz="1800" b="1" dirty="0"/>
              <a:t>Quick Quiz</a:t>
            </a:r>
            <a:r>
              <a:rPr lang="en-IN" sz="1800" dirty="0"/>
              <a:t> – Generates a 3-question multiple-choice quiz with instant feedback and score.</a:t>
            </a:r>
          </a:p>
          <a:p>
            <a:pPr marL="285750" indent="-285750">
              <a:buFont typeface="Arial" panose="020B0604020202020204" pitchFamily="34" charset="0"/>
              <a:buChar char="•"/>
            </a:pPr>
            <a:r>
              <a:rPr lang="en-IN" sz="1800" dirty="0"/>
              <a:t>The </a:t>
            </a:r>
            <a:r>
              <a:rPr lang="en-IN" sz="1800" b="1" dirty="0"/>
              <a:t>student-friendly web interface</a:t>
            </a:r>
            <a:r>
              <a:rPr lang="en-IN" sz="1800" dirty="0"/>
              <a:t> allows learners to enter content, choose their level, view the adapted material, use flashcards, and test their understanding.</a:t>
            </a:r>
          </a:p>
          <a:p>
            <a:pPr marL="285750" indent="-285750">
              <a:buFont typeface="Arial" panose="020B0604020202020204" pitchFamily="34" charset="0"/>
              <a:buChar char="•"/>
            </a:pPr>
            <a:r>
              <a:rPr lang="en-IN" sz="1800" b="1" dirty="0"/>
              <a:t>IBM Bob</a:t>
            </a:r>
            <a:r>
              <a:rPr lang="en-IN" sz="1800" dirty="0"/>
              <a:t> supports application development, while </a:t>
            </a:r>
            <a:r>
              <a:rPr lang="en-IN" sz="1800" b="1" dirty="0"/>
              <a:t>watsonx.ai and IBM Granite</a:t>
            </a:r>
            <a:r>
              <a:rPr lang="en-IN" sz="1800" dirty="0"/>
              <a:t> power the AI-based content analysis and adaptation.</a:t>
            </a:r>
          </a:p>
          <a:p>
            <a:pPr marL="285750" indent="-285750">
              <a:buFont typeface="Arial" panose="020B0604020202020204" pitchFamily="34" charset="0"/>
              <a:buChar char="•"/>
            </a:pPr>
            <a:r>
              <a:rPr lang="en-IN" sz="1800" dirty="0"/>
              <a:t>Overall, </a:t>
            </a:r>
            <a:r>
              <a:rPr lang="en-IN" sz="1800" b="1" dirty="0"/>
              <a:t>LEARNIQ transforms one academic topic into a personalized learning experience for different levels of students.</a:t>
            </a:r>
            <a:endParaRPr lang="en-IN" sz="1800"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386090"/>
          </a:xfrm>
          <a:prstGeom prst="rect">
            <a:avLst/>
          </a:prstGeom>
          <a:noFill/>
        </p:spPr>
        <p:txBody>
          <a:bodyPr wrap="square" rtlCol="0">
            <a:spAutoFit/>
          </a:bodyPr>
          <a:lstStyle/>
          <a:p>
            <a:r>
              <a:rPr lang="en-IN" sz="1800" dirty="0"/>
              <a:t>• </a:t>
            </a:r>
            <a:r>
              <a:rPr lang="en-IN" sz="2000" b="1" dirty="0"/>
              <a:t>IBM Bob Platform</a:t>
            </a:r>
            <a:r>
              <a:rPr lang="en-IN" sz="2000" dirty="0"/>
              <a:t> – Used to build and enhance the LEARNIQ application and support the AI workflow.</a:t>
            </a:r>
          </a:p>
          <a:p>
            <a:r>
              <a:rPr lang="en-IN" sz="2000" dirty="0"/>
              <a:t>• </a:t>
            </a:r>
            <a:r>
              <a:rPr lang="en-IN" sz="2000" b="1" dirty="0"/>
              <a:t>IBM Granite Model</a:t>
            </a:r>
            <a:r>
              <a:rPr lang="en-IN" sz="2000" dirty="0"/>
              <a:t> – Used for </a:t>
            </a:r>
            <a:r>
              <a:rPr lang="en-IN" sz="2000" b="1" dirty="0"/>
              <a:t>understanding academic content, reasoning, and adapting explanations</a:t>
            </a:r>
            <a:r>
              <a:rPr lang="en-IN" sz="2000" dirty="0"/>
              <a:t> according to the student's learning level.</a:t>
            </a:r>
          </a:p>
          <a:p>
            <a:r>
              <a:rPr lang="en-IN" sz="2000" dirty="0"/>
              <a:t>• </a:t>
            </a:r>
            <a:r>
              <a:rPr lang="en-IN" sz="2000" b="1" dirty="0"/>
              <a:t>IBM Cloud</a:t>
            </a:r>
            <a:r>
              <a:rPr lang="en-IN" sz="2000" dirty="0"/>
              <a:t> – Provides the cloud environment and infrastructure for running the AI-powered application.</a:t>
            </a:r>
          </a:p>
          <a:p>
            <a:r>
              <a:rPr lang="en-IN" sz="2000" dirty="0"/>
              <a:t>• </a:t>
            </a:r>
            <a:r>
              <a:rPr lang="en-IN" sz="2000" b="1" dirty="0"/>
              <a:t>IBM watsonx.ai</a:t>
            </a:r>
            <a:r>
              <a:rPr lang="en-IN" sz="2000" dirty="0"/>
              <a:t> – Used to connect and deploy the </a:t>
            </a:r>
            <a:r>
              <a:rPr lang="en-IN" sz="2000" b="1" dirty="0"/>
              <a:t>IBM Granite AI service</a:t>
            </a:r>
            <a:r>
              <a:rPr lang="en-IN" sz="2000" dirty="0"/>
              <a:t> for content adaptation.</a:t>
            </a:r>
          </a:p>
          <a:p>
            <a:r>
              <a:rPr lang="en-IN" sz="2000" dirty="0"/>
              <a:t>• </a:t>
            </a:r>
            <a:r>
              <a:rPr lang="en-IN" sz="2000" b="1" dirty="0"/>
              <a:t>Flask</a:t>
            </a:r>
            <a:r>
              <a:rPr lang="en-IN" sz="2000" dirty="0"/>
              <a:t> – Used to build the </a:t>
            </a:r>
            <a:r>
              <a:rPr lang="en-IN" sz="2000" b="1" dirty="0"/>
              <a:t>backend API</a:t>
            </a:r>
            <a:r>
              <a:rPr lang="en-IN" sz="2000" dirty="0"/>
              <a:t> and connect the frontend with the IBM Granite service.</a:t>
            </a:r>
          </a:p>
          <a:p>
            <a:r>
              <a:rPr lang="en-IN" sz="2000" dirty="0"/>
              <a:t>• </a:t>
            </a:r>
            <a:r>
              <a:rPr lang="en-IN" sz="2000" b="1" dirty="0"/>
              <a:t>HTML, CSS &amp; JavaScript</a:t>
            </a:r>
            <a:r>
              <a:rPr lang="en-IN" sz="2000" dirty="0"/>
              <a:t> – Used to create the </a:t>
            </a:r>
            <a:r>
              <a:rPr lang="en-IN" sz="2000" b="1" dirty="0"/>
              <a:t>student-friendly frontend</a:t>
            </a:r>
            <a:r>
              <a:rPr lang="en-IN" sz="2000" dirty="0"/>
              <a:t>, including learning levels, flashcards, quiz, and results.</a:t>
            </a:r>
          </a:p>
          <a:p>
            <a:r>
              <a:rPr lang="en-IN" sz="2000" dirty="0"/>
              <a:t>• </a:t>
            </a:r>
            <a:r>
              <a:rPr lang="en-IN" sz="2000" b="1" dirty="0"/>
              <a:t>Agentic AI Workflow</a:t>
            </a:r>
            <a:r>
              <a:rPr lang="en-IN" sz="2000" dirty="0"/>
              <a:t> – </a:t>
            </a:r>
            <a:r>
              <a:rPr lang="en-IN" sz="2000" dirty="0" err="1"/>
              <a:t>Analyzes</a:t>
            </a:r>
            <a:r>
              <a:rPr lang="en-IN" sz="2000" dirty="0"/>
              <a:t> the content, adapts it to the selected level, generates learning material, and creates a quiz.</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89E8292-E433-3982-C4E4-41D8CBD658B9}"/>
              </a:ext>
            </a:extLst>
          </p:cNvPr>
          <p:cNvPicPr>
            <a:picLocks noChangeAspect="1"/>
          </p:cNvPicPr>
          <p:nvPr/>
        </p:nvPicPr>
        <p:blipFill>
          <a:blip r:embed="rId3"/>
          <a:stretch>
            <a:fillRect/>
          </a:stretch>
        </p:blipFill>
        <p:spPr>
          <a:xfrm>
            <a:off x="1062399" y="988947"/>
            <a:ext cx="9758597" cy="526279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B0DDC80F-EC0D-1581-0586-92BE4BEC8BF6}"/>
              </a:ext>
            </a:extLst>
          </p:cNvPr>
          <p:cNvPicPr>
            <a:picLocks noChangeAspect="1"/>
          </p:cNvPicPr>
          <p:nvPr/>
        </p:nvPicPr>
        <p:blipFill>
          <a:blip r:embed="rId3"/>
          <a:stretch>
            <a:fillRect/>
          </a:stretch>
        </p:blipFill>
        <p:spPr>
          <a:xfrm>
            <a:off x="734518" y="1184222"/>
            <a:ext cx="10508105" cy="5199061"/>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B097C7-68C8-B81F-ECD2-65295BA2A9DE}"/>
              </a:ext>
            </a:extLst>
          </p:cNvPr>
          <p:cNvPicPr>
            <a:picLocks noChangeAspect="1"/>
          </p:cNvPicPr>
          <p:nvPr/>
        </p:nvPicPr>
        <p:blipFill>
          <a:blip r:embed="rId2"/>
          <a:stretch>
            <a:fillRect/>
          </a:stretch>
        </p:blipFill>
        <p:spPr>
          <a:xfrm>
            <a:off x="1004340" y="492566"/>
            <a:ext cx="10043411" cy="5872867"/>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DA46-18CF-8879-4E4C-FAC98E18AE6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250CE95-DE90-60CC-CFB3-07AED576D88A}"/>
              </a:ext>
            </a:extLst>
          </p:cNvPr>
          <p:cNvPicPr>
            <a:picLocks noChangeAspect="1"/>
          </p:cNvPicPr>
          <p:nvPr/>
        </p:nvPicPr>
        <p:blipFill>
          <a:blip r:embed="rId2"/>
          <a:stretch>
            <a:fillRect/>
          </a:stretch>
        </p:blipFill>
        <p:spPr>
          <a:xfrm>
            <a:off x="689548" y="461328"/>
            <a:ext cx="10957809" cy="5935344"/>
          </a:xfrm>
          <a:prstGeom prst="rect">
            <a:avLst/>
          </a:prstGeom>
        </p:spPr>
      </p:pic>
    </p:spTree>
    <p:extLst>
      <p:ext uri="{BB962C8B-B14F-4D97-AF65-F5344CB8AC3E}">
        <p14:creationId xmlns:p14="http://schemas.microsoft.com/office/powerpoint/2010/main" val="453415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E6485795-20EE-557C-11C7-D00F46F1C8DA}"/>
              </a:ext>
            </a:extLst>
          </p:cNvPr>
          <p:cNvPicPr>
            <a:picLocks noChangeAspect="1"/>
          </p:cNvPicPr>
          <p:nvPr/>
        </p:nvPicPr>
        <p:blipFill>
          <a:blip r:embed="rId3"/>
          <a:stretch>
            <a:fillRect/>
          </a:stretch>
        </p:blipFill>
        <p:spPr>
          <a:xfrm>
            <a:off x="899410" y="960908"/>
            <a:ext cx="10807908" cy="4936183"/>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293757"/>
          </a:xfrm>
          <a:prstGeom prst="rect">
            <a:avLst/>
          </a:prstGeom>
          <a:noFill/>
        </p:spPr>
        <p:txBody>
          <a:bodyPr wrap="square" rtlCol="0">
            <a:spAutoFit/>
          </a:bodyPr>
          <a:lstStyle/>
          <a:p>
            <a:r>
              <a:rPr lang="en-IN" sz="1800" b="1" dirty="0"/>
              <a:t>Role of Agentic AI in LEARNIQ:</a:t>
            </a:r>
          </a:p>
          <a:p>
            <a:r>
              <a:rPr lang="en-IN" sz="1800" b="1" dirty="0"/>
              <a:t>Agentic AI</a:t>
            </a:r>
            <a:r>
              <a:rPr lang="en-IN" sz="1800" dirty="0"/>
              <a:t> enables LEARNIQ to work as an </a:t>
            </a:r>
            <a:r>
              <a:rPr lang="en-IN" sz="1800" b="1" dirty="0"/>
              <a:t>intelligent learning assistant</a:t>
            </a:r>
            <a:r>
              <a:rPr lang="en-IN" sz="1800" dirty="0"/>
              <a:t> rather than a simple text-generation tool. Using </a:t>
            </a:r>
            <a:r>
              <a:rPr lang="en-IN" sz="1800" b="1" dirty="0"/>
              <a:t>IBM watsonx.ai and IBM Granite</a:t>
            </a:r>
            <a:r>
              <a:rPr lang="en-IN" sz="1800" dirty="0"/>
              <a:t>, it </a:t>
            </a:r>
            <a:r>
              <a:rPr lang="en-IN" sz="1800" dirty="0" err="1"/>
              <a:t>analyzes</a:t>
            </a:r>
            <a:r>
              <a:rPr lang="en-IN" sz="1800" dirty="0"/>
              <a:t> academic content and adapts it according to the student's selected learning level.</a:t>
            </a:r>
          </a:p>
          <a:p>
            <a:r>
              <a:rPr lang="en-IN" sz="1800" dirty="0"/>
              <a:t>The system performs different learning tasks such as </a:t>
            </a:r>
            <a:r>
              <a:rPr lang="en-IN" sz="1800" b="1" dirty="0"/>
              <a:t>content analysis, explanation adaptation, learning support, and quiz generation</a:t>
            </a:r>
            <a:r>
              <a:rPr lang="en-IN" sz="1800" dirty="0"/>
              <a:t>, working together to provide a complete learning experience.</a:t>
            </a:r>
          </a:p>
          <a:p>
            <a:r>
              <a:rPr lang="en-IN" sz="1800" dirty="0"/>
              <a:t>Agentic AI provides </a:t>
            </a:r>
            <a:r>
              <a:rPr lang="en-IN" sz="1800" b="1" dirty="0"/>
              <a:t>context awareness</a:t>
            </a:r>
            <a:r>
              <a:rPr lang="en-IN" sz="1800" dirty="0"/>
              <a:t> by considering the student's selected proficiency level—</a:t>
            </a:r>
            <a:r>
              <a:rPr lang="en-IN" sz="1800" b="1" dirty="0"/>
              <a:t>Beginner, Intermediate, Advanced, or Expert</a:t>
            </a:r>
            <a:r>
              <a:rPr lang="en-IN" sz="1800" dirty="0"/>
              <a:t>—and adjusting the complexity, terminology, and depth of the explanation.</a:t>
            </a:r>
          </a:p>
          <a:p>
            <a:r>
              <a:rPr lang="en-IN" sz="1800" dirty="0"/>
              <a:t>It also supports </a:t>
            </a:r>
            <a:r>
              <a:rPr lang="en-IN" sz="1800" b="1" dirty="0"/>
              <a:t>dynamic adaptation</a:t>
            </a:r>
            <a:r>
              <a:rPr lang="en-IN" sz="1800" dirty="0"/>
              <a:t>, allowing students to try the same topic at different levels and receive appropriately structured content.</a:t>
            </a:r>
          </a:p>
          <a:p>
            <a:r>
              <a:rPr lang="en-IN" sz="1800" dirty="0"/>
              <a:t>Overall, Agentic AI makes LEARNIQ </a:t>
            </a:r>
            <a:r>
              <a:rPr lang="en-IN" sz="1800" b="1" dirty="0"/>
              <a:t>personalized, adaptive, and goal-oriented</a:t>
            </a:r>
            <a:r>
              <a:rPr lang="en-IN" sz="1800" dirty="0"/>
              <a:t>, helping students understand academic concepts and test their knowledge through an integrated learning experience</a:t>
            </a:r>
          </a:p>
          <a:p>
            <a:r>
              <a:rPr lang="en-US" dirty="0"/>
              <a:t>.</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9040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2" name="Picture 1">
            <a:extLst>
              <a:ext uri="{FF2B5EF4-FFF2-40B4-BE49-F238E27FC236}">
                <a16:creationId xmlns:a16="http://schemas.microsoft.com/office/drawing/2014/main" id="{605C7C77-4F3D-9201-E6F1-180B8AD0B69A}"/>
              </a:ext>
            </a:extLst>
          </p:cNvPr>
          <p:cNvPicPr>
            <a:picLocks noChangeAspect="1"/>
          </p:cNvPicPr>
          <p:nvPr/>
        </p:nvPicPr>
        <p:blipFill>
          <a:blip r:embed="rId3"/>
          <a:stretch>
            <a:fillRect/>
          </a:stretch>
        </p:blipFill>
        <p:spPr>
          <a:xfrm>
            <a:off x="307874" y="2492917"/>
            <a:ext cx="5338603" cy="3043336"/>
          </a:xfrm>
          <a:prstGeom prst="rect">
            <a:avLst/>
          </a:prstGeom>
        </p:spPr>
      </p:pic>
      <p:pic>
        <p:nvPicPr>
          <p:cNvPr id="3" name="Picture 2">
            <a:extLst>
              <a:ext uri="{FF2B5EF4-FFF2-40B4-BE49-F238E27FC236}">
                <a16:creationId xmlns:a16="http://schemas.microsoft.com/office/drawing/2014/main" id="{8E9BDDB8-84CF-9007-E413-EADDBC647F8D}"/>
              </a:ext>
            </a:extLst>
          </p:cNvPr>
          <p:cNvPicPr>
            <a:picLocks noChangeAspect="1"/>
          </p:cNvPicPr>
          <p:nvPr/>
        </p:nvPicPr>
        <p:blipFill>
          <a:blip r:embed="rId4"/>
          <a:stretch>
            <a:fillRect/>
          </a:stretch>
        </p:blipFill>
        <p:spPr>
          <a:xfrm>
            <a:off x="6333738" y="2492917"/>
            <a:ext cx="5338603" cy="2937796"/>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6BCA0063-178F-3018-1A03-BE04E5E7A907}"/>
              </a:ext>
            </a:extLst>
          </p:cNvPr>
          <p:cNvPicPr>
            <a:picLocks noChangeAspect="1"/>
          </p:cNvPicPr>
          <p:nvPr/>
        </p:nvPicPr>
        <p:blipFill>
          <a:blip r:embed="rId3"/>
          <a:stretch>
            <a:fillRect/>
          </a:stretch>
        </p:blipFill>
        <p:spPr>
          <a:xfrm>
            <a:off x="517160" y="1164185"/>
            <a:ext cx="11157679" cy="5239712"/>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56BAFF7B-BD65-4262-7B85-21A6AD144EA8}"/>
              </a:ext>
            </a:extLst>
          </p:cNvPr>
          <p:cNvPicPr>
            <a:picLocks noChangeAspect="1"/>
          </p:cNvPicPr>
          <p:nvPr/>
        </p:nvPicPr>
        <p:blipFill>
          <a:blip r:embed="rId3"/>
          <a:stretch>
            <a:fillRect/>
          </a:stretch>
        </p:blipFill>
        <p:spPr>
          <a:xfrm>
            <a:off x="959370" y="816977"/>
            <a:ext cx="10013906" cy="575622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a:extLst>
              <a:ext uri="{FF2B5EF4-FFF2-40B4-BE49-F238E27FC236}">
                <a16:creationId xmlns:a16="http://schemas.microsoft.com/office/drawing/2014/main" id="{A7DCFB04-0D96-B5CA-079F-A86C7BF5D05B}"/>
              </a:ext>
            </a:extLst>
          </p:cNvPr>
          <p:cNvPicPr>
            <a:picLocks noChangeAspect="1"/>
          </p:cNvPicPr>
          <p:nvPr/>
        </p:nvPicPr>
        <p:blipFill>
          <a:blip r:embed="rId3"/>
          <a:stretch>
            <a:fillRect/>
          </a:stretch>
        </p:blipFill>
        <p:spPr>
          <a:xfrm>
            <a:off x="1328072" y="816977"/>
            <a:ext cx="9535856" cy="5741422"/>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5CA0A3C-707C-DED3-BE4C-CAD61837E0B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F365A82-98EE-100B-ABF6-9423A83E174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5699DDA-6B0D-AAD7-13FD-010A4E02614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F1AC868-6C1E-B19B-227E-EE07245F069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1F15DD2-C6FE-4DB6-BF11-4DD51D794098}"/>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17A0B997-DBBA-3DBF-7363-34476E45945B}"/>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a:extLst>
              <a:ext uri="{FF2B5EF4-FFF2-40B4-BE49-F238E27FC236}">
                <a16:creationId xmlns:a16="http://schemas.microsoft.com/office/drawing/2014/main" id="{94B7BB55-DBC1-75A5-58AB-A17EF514D527}"/>
              </a:ext>
            </a:extLst>
          </p:cNvPr>
          <p:cNvPicPr>
            <a:picLocks noChangeAspect="1"/>
          </p:cNvPicPr>
          <p:nvPr/>
        </p:nvPicPr>
        <p:blipFill>
          <a:blip r:embed="rId3"/>
          <a:stretch>
            <a:fillRect/>
          </a:stretch>
        </p:blipFill>
        <p:spPr>
          <a:xfrm>
            <a:off x="1323309" y="885470"/>
            <a:ext cx="9545382" cy="5087060"/>
          </a:xfrm>
          <a:prstGeom prst="rect">
            <a:avLst/>
          </a:prstGeom>
        </p:spPr>
      </p:pic>
    </p:spTree>
    <p:extLst>
      <p:ext uri="{BB962C8B-B14F-4D97-AF65-F5344CB8AC3E}">
        <p14:creationId xmlns:p14="http://schemas.microsoft.com/office/powerpoint/2010/main" val="187864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DBCE738C-7AF3-7BC9-3C2A-AF9990C66AE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B95F419A-05BB-C741-FE92-C7F2F114F46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CEF9A7C5-9B9E-0504-2A65-EB7A60B69F4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93923A1-8F29-D4CA-FE56-1CDA53AFB93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B98C971-6690-DEFE-56AF-C3F1056ABA2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F836C75-1FE3-5E56-95BE-0CAB8B2F3006}"/>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a:extLst>
              <a:ext uri="{FF2B5EF4-FFF2-40B4-BE49-F238E27FC236}">
                <a16:creationId xmlns:a16="http://schemas.microsoft.com/office/drawing/2014/main" id="{84ADB01F-EDB8-ABC4-D757-1F448C8464A5}"/>
              </a:ext>
            </a:extLst>
          </p:cNvPr>
          <p:cNvPicPr>
            <a:picLocks noChangeAspect="1"/>
          </p:cNvPicPr>
          <p:nvPr/>
        </p:nvPicPr>
        <p:blipFill>
          <a:blip r:embed="rId3"/>
          <a:stretch>
            <a:fillRect/>
          </a:stretch>
        </p:blipFill>
        <p:spPr>
          <a:xfrm>
            <a:off x="869430" y="816977"/>
            <a:ext cx="10508104" cy="5568833"/>
          </a:xfrm>
          <a:prstGeom prst="rect">
            <a:avLst/>
          </a:prstGeom>
        </p:spPr>
      </p:pic>
    </p:spTree>
    <p:extLst>
      <p:ext uri="{BB962C8B-B14F-4D97-AF65-F5344CB8AC3E}">
        <p14:creationId xmlns:p14="http://schemas.microsoft.com/office/powerpoint/2010/main" val="3645167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B62F7F0-53A0-234E-80E1-3C5B09E4BCE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5C1DA44-2ADD-D430-EC06-8BDBB55CA3D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02C9F851-AA7A-E8B4-1A17-8E6DE4B644D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B7FB83EC-8073-E50A-049C-7F78AC1F1EE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0959EA6-20C5-48AA-444B-2AE2C9CC904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650FCF1-8D0D-36E1-9054-32FEBAE4AC78}"/>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C89404CE-B376-2C31-85E3-D324B908E6E4}"/>
              </a:ext>
            </a:extLst>
          </p:cNvPr>
          <p:cNvPicPr>
            <a:picLocks noChangeAspect="1"/>
          </p:cNvPicPr>
          <p:nvPr/>
        </p:nvPicPr>
        <p:blipFill>
          <a:blip r:embed="rId3"/>
          <a:stretch>
            <a:fillRect/>
          </a:stretch>
        </p:blipFill>
        <p:spPr>
          <a:xfrm>
            <a:off x="1218724" y="1044264"/>
            <a:ext cx="10248751" cy="5116694"/>
          </a:xfrm>
          <a:prstGeom prst="rect">
            <a:avLst/>
          </a:prstGeom>
        </p:spPr>
      </p:pic>
    </p:spTree>
    <p:extLst>
      <p:ext uri="{BB962C8B-B14F-4D97-AF65-F5344CB8AC3E}">
        <p14:creationId xmlns:p14="http://schemas.microsoft.com/office/powerpoint/2010/main" val="741433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60BDF27-D06B-6D0B-7857-3ED322954CE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3B98627-4707-CF45-B81B-76DD10ACE003}"/>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1D760D1C-F164-3A9E-AF27-4FDF1563630B}"/>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4BCB6B9-D5C6-9A87-7E49-7EA9C2E8173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DD4CA04A-688C-313D-2D6F-46A9160EE49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A0DAB5D-C853-3926-A360-83101E983A8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76C5B391-521A-50E6-690C-6398D7DAFD65}"/>
              </a:ext>
            </a:extLst>
          </p:cNvPr>
          <p:cNvPicPr>
            <a:picLocks noChangeAspect="1"/>
          </p:cNvPicPr>
          <p:nvPr/>
        </p:nvPicPr>
        <p:blipFill>
          <a:blip r:embed="rId3"/>
          <a:stretch>
            <a:fillRect/>
          </a:stretch>
        </p:blipFill>
        <p:spPr>
          <a:xfrm>
            <a:off x="1086944" y="816977"/>
            <a:ext cx="8656662" cy="5411999"/>
          </a:xfrm>
          <a:prstGeom prst="rect">
            <a:avLst/>
          </a:prstGeom>
        </p:spPr>
      </p:pic>
    </p:spTree>
    <p:extLst>
      <p:ext uri="{BB962C8B-B14F-4D97-AF65-F5344CB8AC3E}">
        <p14:creationId xmlns:p14="http://schemas.microsoft.com/office/powerpoint/2010/main" val="1565360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1335075-62E2-916B-CCD4-18338611E10D}"/>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02F0279-2E2E-D8BA-28D1-5F1DCF273C12}"/>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956A0E5F-3FA4-CABA-2DF9-023E586818A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8B90AAF0-DE16-D320-10E0-B49FC1DCCF0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2875CD0-AEA9-67C6-DEF4-3E4E8391BC40}"/>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B3C694E-2270-9F62-D316-04657B8D2F01}"/>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00D66B4B-BCC6-A680-7AFC-743261F746F9}"/>
              </a:ext>
            </a:extLst>
          </p:cNvPr>
          <p:cNvPicPr>
            <a:picLocks noChangeAspect="1"/>
          </p:cNvPicPr>
          <p:nvPr/>
        </p:nvPicPr>
        <p:blipFill>
          <a:blip r:embed="rId3"/>
          <a:stretch>
            <a:fillRect/>
          </a:stretch>
        </p:blipFill>
        <p:spPr>
          <a:xfrm>
            <a:off x="779489" y="816977"/>
            <a:ext cx="10193788" cy="5284020"/>
          </a:xfrm>
          <a:prstGeom prst="rect">
            <a:avLst/>
          </a:prstGeom>
        </p:spPr>
      </p:pic>
    </p:spTree>
    <p:extLst>
      <p:ext uri="{BB962C8B-B14F-4D97-AF65-F5344CB8AC3E}">
        <p14:creationId xmlns:p14="http://schemas.microsoft.com/office/powerpoint/2010/main" val="823237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A75B0BF-9498-DA27-FC50-6CD645C37AD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EFE3686-F106-1BB4-325D-FD10E925C56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5CD0365A-1B86-220B-3DFA-DB6B6503B28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FB9E8C4-50A5-37A5-C8FD-C6BD37FF3124}"/>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0361D48B-F247-6A4C-1FE7-B4D8FAECB42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3412A8D-FA4E-68AD-132F-A6D50B7D0041}"/>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88E3C495-063D-9197-E381-20CFAEFD08E8}"/>
              </a:ext>
            </a:extLst>
          </p:cNvPr>
          <p:cNvPicPr>
            <a:picLocks noChangeAspect="1"/>
          </p:cNvPicPr>
          <p:nvPr/>
        </p:nvPicPr>
        <p:blipFill>
          <a:blip r:embed="rId3"/>
          <a:stretch>
            <a:fillRect/>
          </a:stretch>
        </p:blipFill>
        <p:spPr>
          <a:xfrm>
            <a:off x="734520" y="816977"/>
            <a:ext cx="10463134" cy="5813737"/>
          </a:xfrm>
          <a:prstGeom prst="rect">
            <a:avLst/>
          </a:prstGeom>
        </p:spPr>
      </p:pic>
    </p:spTree>
    <p:extLst>
      <p:ext uri="{BB962C8B-B14F-4D97-AF65-F5344CB8AC3E}">
        <p14:creationId xmlns:p14="http://schemas.microsoft.com/office/powerpoint/2010/main" val="1979027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5A698A-974E-4BAF-7795-6D0632E3DF0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5214F3E-D086-6096-C004-1CCAB8D7D52D}"/>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0B476EBF-2CC7-09ED-50C8-14A6E6AEF24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5FA95C1-2B95-D347-B69D-4956E4334BFE}"/>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A99AEFA-2F73-63A2-583D-7306ABBBE48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B556DD2-387D-6807-4BF2-9A3FEED696A6}"/>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656026A8-FCFB-F838-65D8-78DD0138E5E7}"/>
              </a:ext>
            </a:extLst>
          </p:cNvPr>
          <p:cNvPicPr>
            <a:picLocks noChangeAspect="1"/>
          </p:cNvPicPr>
          <p:nvPr/>
        </p:nvPicPr>
        <p:blipFill>
          <a:blip r:embed="rId3"/>
          <a:stretch>
            <a:fillRect/>
          </a:stretch>
        </p:blipFill>
        <p:spPr>
          <a:xfrm>
            <a:off x="989351" y="1044263"/>
            <a:ext cx="9983926" cy="5176655"/>
          </a:xfrm>
          <a:prstGeom prst="rect">
            <a:avLst/>
          </a:prstGeom>
        </p:spPr>
      </p:pic>
    </p:spTree>
    <p:extLst>
      <p:ext uri="{BB962C8B-B14F-4D97-AF65-F5344CB8AC3E}">
        <p14:creationId xmlns:p14="http://schemas.microsoft.com/office/powerpoint/2010/main" val="1501541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8B203F-152D-6F0D-5DAD-BE7A9CEC479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911B6C2-A949-304D-F4A6-B76224601D2D}"/>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B3DF227-CAD6-4337-61C3-955FF15CD6A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95966AB-091D-B53D-3A13-CB641367BB3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A0AB399-48A1-7717-AFB6-3C203B5604D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0EA25EBA-CCE9-1102-1EDA-914C1C57BF11}"/>
              </a:ext>
            </a:extLst>
          </p:cNvPr>
          <p:cNvSpPr txBox="1"/>
          <p:nvPr/>
        </p:nvSpPr>
        <p:spPr>
          <a:xfrm>
            <a:off x="749508" y="1044263"/>
            <a:ext cx="10448143" cy="4985980"/>
          </a:xfrm>
          <a:prstGeom prst="rect">
            <a:avLst/>
          </a:prstGeom>
          <a:noFill/>
        </p:spPr>
        <p:txBody>
          <a:bodyPr wrap="square" rtlCol="0">
            <a:spAutoFit/>
          </a:bodyPr>
          <a:lstStyle/>
          <a:p>
            <a:r>
              <a:rPr lang="en-US" sz="1600" dirty="0"/>
              <a:t>Prompt:</a:t>
            </a:r>
          </a:p>
          <a:p>
            <a:r>
              <a:rPr lang="en-US" sz="1600" dirty="0"/>
              <a:t>Build a complete working LEARNIQ – Course Content Simplification Agent with a professional frontend and functional backend.</a:t>
            </a:r>
          </a:p>
          <a:p>
            <a:r>
              <a:rPr lang="en-US" sz="1600" dirty="0"/>
              <a:t>Backend: Use IBM Granite to analyze academic content and adapt it to the selected proficiency level: Beginner, Intermediate, Advanced, or Expert. Preserve the original meaning and return structured results.</a:t>
            </a:r>
          </a:p>
          <a:p>
            <a:r>
              <a:rPr lang="en-US" sz="1600" dirty="0"/>
              <a:t>Frontend: Create a clean, modern student-friendly interface with:</a:t>
            </a:r>
          </a:p>
          <a:p>
            <a:r>
              <a:rPr lang="en-US" sz="1600" dirty="0"/>
              <a:t>Course/content text input </a:t>
            </a:r>
          </a:p>
          <a:p>
            <a:r>
              <a:rPr lang="en-US" sz="1600" dirty="0"/>
              <a:t>Proficiency level selector </a:t>
            </a:r>
          </a:p>
          <a:p>
            <a:r>
              <a:rPr lang="en-US" sz="1600" dirty="0"/>
              <a:t>Simplify button </a:t>
            </a:r>
          </a:p>
          <a:p>
            <a:r>
              <a:rPr lang="en-US" sz="1600" dirty="0"/>
              <a:t>Structured result cards </a:t>
            </a:r>
          </a:p>
          <a:p>
            <a:r>
              <a:rPr lang="en-US" sz="1600" dirty="0"/>
              <a:t>Show these results:</a:t>
            </a:r>
          </a:p>
          <a:p>
            <a:r>
              <a:rPr lang="en-US" sz="1600" dirty="0"/>
              <a:t>Adapted Explanation </a:t>
            </a:r>
          </a:p>
          <a:p>
            <a:r>
              <a:rPr lang="en-US" sz="1600" dirty="0"/>
              <a:t>Key Concepts </a:t>
            </a:r>
          </a:p>
          <a:p>
            <a:r>
              <a:rPr lang="en-US" sz="1600" dirty="0"/>
              <a:t>Important Terms </a:t>
            </a:r>
          </a:p>
          <a:p>
            <a:r>
              <a:rPr lang="en-US" sz="1600" dirty="0"/>
              <a:t>Real-World Analogy </a:t>
            </a:r>
          </a:p>
          <a:p>
            <a:r>
              <a:rPr lang="en-US" sz="1600" dirty="0"/>
              <a:t>Example </a:t>
            </a:r>
          </a:p>
          <a:p>
            <a:r>
              <a:rPr lang="en-US" sz="1600" dirty="0"/>
              <a:t>Common Misconception </a:t>
            </a:r>
          </a:p>
          <a:p>
            <a:r>
              <a:rPr lang="en-US" sz="1600" dirty="0"/>
              <a:t>3-question Quick Quiz with answers </a:t>
            </a:r>
          </a:p>
          <a:p>
            <a:r>
              <a:rPr lang="en-US" sz="1600" dirty="0"/>
              <a:t>Connect the frontend to the backend so the complete flow works end-to-end.</a:t>
            </a:r>
          </a:p>
          <a:p>
            <a:endParaRPr lang="en-IN" dirty="0"/>
          </a:p>
        </p:txBody>
      </p:sp>
    </p:spTree>
    <p:extLst>
      <p:ext uri="{BB962C8B-B14F-4D97-AF65-F5344CB8AC3E}">
        <p14:creationId xmlns:p14="http://schemas.microsoft.com/office/powerpoint/2010/main" val="550870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035009" cy="4462760"/>
          </a:xfrm>
          <a:prstGeom prst="rect">
            <a:avLst/>
          </a:prstGeom>
          <a:noFill/>
        </p:spPr>
        <p:txBody>
          <a:bodyPr wrap="square" rtlCol="0">
            <a:spAutoFit/>
          </a:bodyPr>
          <a:lstStyle/>
          <a:p>
            <a:pPr marL="342900" indent="-342900">
              <a:buFont typeface="Arial" panose="020B0604020202020204" pitchFamily="34" charset="0"/>
              <a:buChar char="•"/>
            </a:pPr>
            <a:r>
              <a:rPr lang="en-IN" sz="1800" dirty="0"/>
              <a:t>LEARNIQ stands out by combining </a:t>
            </a:r>
            <a:r>
              <a:rPr lang="en-IN" sz="1800" b="1" dirty="0"/>
              <a:t>Agentic AI, adaptive learning, and interactive assessment</a:t>
            </a:r>
            <a:r>
              <a:rPr lang="en-IN" sz="1800" dirty="0"/>
              <a:t> into one personalized learning system.</a:t>
            </a:r>
          </a:p>
          <a:p>
            <a:pPr marL="342900" indent="-342900">
              <a:buFont typeface="Arial" panose="020B0604020202020204" pitchFamily="34" charset="0"/>
              <a:buChar char="•"/>
            </a:pPr>
            <a:r>
              <a:rPr lang="en-IN" sz="1800" b="1" dirty="0"/>
              <a:t>Adaptive Learning Levels</a:t>
            </a:r>
            <a:r>
              <a:rPr lang="en-IN" sz="1800" dirty="0"/>
              <a:t> – Explains the same academic topic at </a:t>
            </a:r>
            <a:r>
              <a:rPr lang="en-IN" sz="1800" b="1" dirty="0"/>
              <a:t>Beginner, Intermediate, Advanced, or Expert</a:t>
            </a:r>
            <a:r>
              <a:rPr lang="en-IN" sz="1800" dirty="0"/>
              <a:t> levels.</a:t>
            </a:r>
          </a:p>
          <a:p>
            <a:pPr marL="342900" indent="-342900">
              <a:buFont typeface="Arial" panose="020B0604020202020204" pitchFamily="34" charset="0"/>
              <a:buChar char="•"/>
            </a:pPr>
            <a:r>
              <a:rPr lang="en-IN" sz="1800" b="1" dirty="0"/>
              <a:t>Meaning Preservation</a:t>
            </a:r>
            <a:r>
              <a:rPr lang="en-IN" sz="1800" dirty="0"/>
              <a:t> – Changes the complexity of the explanation while keeping the </a:t>
            </a:r>
            <a:r>
              <a:rPr lang="en-IN" sz="1800" b="1" dirty="0"/>
              <a:t>original concept and important information</a:t>
            </a:r>
            <a:r>
              <a:rPr lang="en-IN" sz="1800" dirty="0"/>
              <a:t>.</a:t>
            </a:r>
          </a:p>
          <a:p>
            <a:pPr marL="342900" indent="-342900">
              <a:buFont typeface="Arial" panose="020B0604020202020204" pitchFamily="34" charset="0"/>
              <a:buChar char="•"/>
            </a:pPr>
            <a:r>
              <a:rPr lang="en-IN" sz="1800" b="1" dirty="0"/>
              <a:t>Structured Learning</a:t>
            </a:r>
            <a:r>
              <a:rPr lang="en-IN" sz="1800" dirty="0"/>
              <a:t> – Combines explanations with </a:t>
            </a:r>
            <a:r>
              <a:rPr lang="en-IN" sz="1800" b="1" dirty="0"/>
              <a:t>key concepts, terms, examples, analogies, and misconceptions</a:t>
            </a:r>
            <a:r>
              <a:rPr lang="en-IN" sz="1800" dirty="0"/>
              <a:t> in one response.</a:t>
            </a:r>
          </a:p>
          <a:p>
            <a:pPr marL="342900" indent="-342900">
              <a:buFont typeface="Arial" panose="020B0604020202020204" pitchFamily="34" charset="0"/>
              <a:buChar char="•"/>
            </a:pPr>
            <a:r>
              <a:rPr lang="en-IN" sz="1800" b="1" dirty="0"/>
              <a:t>Interactive Learning</a:t>
            </a:r>
            <a:r>
              <a:rPr lang="en-IN" sz="1800" dirty="0"/>
              <a:t> – Uses </a:t>
            </a:r>
            <a:r>
              <a:rPr lang="en-IN" sz="1800" b="1" dirty="0"/>
              <a:t>flip flashcards</a:t>
            </a:r>
            <a:r>
              <a:rPr lang="en-IN" sz="1800" dirty="0"/>
              <a:t> to make important terms easier to learn and remember.</a:t>
            </a:r>
          </a:p>
          <a:p>
            <a:pPr marL="342900" indent="-342900">
              <a:buFont typeface="Arial" panose="020B0604020202020204" pitchFamily="34" charset="0"/>
              <a:buChar char="•"/>
            </a:pPr>
            <a:r>
              <a:rPr lang="en-IN" sz="1800" b="1" dirty="0"/>
              <a:t>Instant Assessment</a:t>
            </a:r>
            <a:r>
              <a:rPr lang="en-IN" sz="1800" dirty="0"/>
              <a:t> – Includes a </a:t>
            </a:r>
            <a:r>
              <a:rPr lang="en-IN" sz="1800" b="1" dirty="0"/>
              <a:t>3-question quiz</a:t>
            </a:r>
            <a:r>
              <a:rPr lang="en-IN" sz="1800" dirty="0"/>
              <a:t> with instant feedback and score evaluation.</a:t>
            </a:r>
          </a:p>
          <a:p>
            <a:pPr marL="342900" indent="-342900">
              <a:buFont typeface="Arial" panose="020B0604020202020204" pitchFamily="34" charset="0"/>
              <a:buChar char="•"/>
            </a:pPr>
            <a:r>
              <a:rPr lang="en-IN" sz="1800" b="1" dirty="0"/>
              <a:t>Level Switching</a:t>
            </a:r>
            <a:r>
              <a:rPr lang="en-IN" sz="1800" dirty="0"/>
              <a:t> – Students can try the </a:t>
            </a:r>
            <a:r>
              <a:rPr lang="en-IN" sz="1800" b="1" dirty="0"/>
              <a:t>same topic at different levels</a:t>
            </a:r>
            <a:r>
              <a:rPr lang="en-IN" sz="1800" dirty="0"/>
              <a:t> based on their understanding.</a:t>
            </a:r>
          </a:p>
          <a:p>
            <a:pPr marL="342900" indent="-342900">
              <a:buFont typeface="Arial" panose="020B0604020202020204" pitchFamily="34" charset="0"/>
              <a:buChar char="•"/>
            </a:pPr>
            <a:r>
              <a:rPr lang="en-IN" sz="1800" b="1" dirty="0"/>
              <a:t>Complete Learning Flow</a:t>
            </a:r>
            <a:r>
              <a:rPr lang="en-IN" sz="1800" dirty="0"/>
              <a:t> – Combines </a:t>
            </a:r>
            <a:r>
              <a:rPr lang="en-IN" sz="1800" b="1" dirty="0"/>
              <a:t>Learn → Explore → Practice → Evaluate</a:t>
            </a:r>
            <a:r>
              <a:rPr lang="en-IN" sz="1800" dirty="0"/>
              <a:t> instead of only generating an explanation.</a:t>
            </a:r>
          </a:p>
          <a:p>
            <a:pPr marL="342900" indent="-342900">
              <a:buFont typeface="Arial" panose="020B0604020202020204" pitchFamily="34" charset="0"/>
              <a:buChar char="•"/>
            </a:pPr>
            <a:r>
              <a:rPr lang="en-IN" sz="1800" dirty="0"/>
              <a:t>This makes LEARNIQ a </a:t>
            </a:r>
            <a:r>
              <a:rPr lang="en-IN" sz="1800" b="1" dirty="0"/>
              <a:t>personalized and interactive AI learning assistant</a:t>
            </a:r>
            <a:r>
              <a:rPr lang="en-IN" sz="1800" dirty="0"/>
              <a:t>, rather than just a content simplification tool.</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953242" y="1572903"/>
            <a:ext cx="9214580" cy="119974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hlinkClick r:id="rId3" action="ppaction://hlinksldjump"/>
              </a:rPr>
              <a:t>https://github.com/deepikae1504/content_simplify_agent.git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buFont typeface="Arial" panose="020B0604020202020204" pitchFamily="34" charset="0"/>
              <a:buChar char="•"/>
            </a:pPr>
            <a:r>
              <a:rPr lang="en-IN" sz="2000" b="1" dirty="0"/>
              <a:t>More Learning Levels</a:t>
            </a:r>
            <a:r>
              <a:rPr lang="en-IN" sz="2000" dirty="0"/>
              <a:t> – Add more personalized levels based on students’ knowledge and learning needs. </a:t>
            </a:r>
          </a:p>
          <a:p>
            <a:pPr marL="342900" lvl="0" indent="-342900">
              <a:buFont typeface="Arial" panose="020B0604020202020204" pitchFamily="34" charset="0"/>
              <a:buChar char="•"/>
            </a:pPr>
            <a:r>
              <a:rPr lang="en-IN" sz="2000" b="1" dirty="0"/>
              <a:t>Multiple Languages</a:t>
            </a:r>
            <a:r>
              <a:rPr lang="en-IN" sz="2000" dirty="0"/>
              <a:t> – Support regional and international languages for wider accessibility. </a:t>
            </a:r>
          </a:p>
          <a:p>
            <a:pPr marL="342900" lvl="0" indent="-342900">
              <a:buFont typeface="Arial" panose="020B0604020202020204" pitchFamily="34" charset="0"/>
              <a:buChar char="•"/>
            </a:pPr>
            <a:r>
              <a:rPr lang="en-IN" sz="2000" b="1" dirty="0"/>
              <a:t>PDF &amp; Document Support</a:t>
            </a:r>
            <a:r>
              <a:rPr lang="en-IN" sz="2000" dirty="0"/>
              <a:t> – Allow students to upload notes, textbooks, and study materials directly. </a:t>
            </a:r>
          </a:p>
          <a:p>
            <a:pPr marL="342900" lvl="0" indent="-342900">
              <a:buFont typeface="Arial" panose="020B0604020202020204" pitchFamily="34" charset="0"/>
              <a:buChar char="•"/>
            </a:pPr>
            <a:r>
              <a:rPr lang="en-IN" sz="2000" b="1" dirty="0"/>
              <a:t>Personalized Learning Paths</a:t>
            </a:r>
            <a:r>
              <a:rPr lang="en-IN" sz="2000" dirty="0"/>
              <a:t> – Recommend topics and learning activities based on quiz performance. </a:t>
            </a:r>
          </a:p>
          <a:p>
            <a:pPr marL="342900" lvl="0" indent="-342900">
              <a:buFont typeface="Arial" panose="020B0604020202020204" pitchFamily="34" charset="0"/>
              <a:buChar char="•"/>
            </a:pPr>
            <a:r>
              <a:rPr lang="en-IN" sz="2000" b="1" dirty="0"/>
              <a:t>Voice-Based Learning</a:t>
            </a:r>
            <a:r>
              <a:rPr lang="en-IN" sz="2000" dirty="0"/>
              <a:t> – Add speech input and audio explanations for easier learning. </a:t>
            </a:r>
          </a:p>
          <a:p>
            <a:pPr marL="342900" lvl="0" indent="-342900">
              <a:buFont typeface="Arial" panose="020B0604020202020204" pitchFamily="34" charset="0"/>
              <a:buChar char="•"/>
            </a:pPr>
            <a:r>
              <a:rPr lang="en-IN" sz="2000" b="1" dirty="0"/>
              <a:t>Progress Tracking</a:t>
            </a:r>
            <a:r>
              <a:rPr lang="en-IN" sz="2000" dirty="0"/>
              <a:t> – Track quiz scores, topics completed, and improvement over time. </a:t>
            </a:r>
          </a:p>
          <a:p>
            <a:pPr marL="342900" lvl="0" indent="-342900">
              <a:buFont typeface="Arial" panose="020B0604020202020204" pitchFamily="34" charset="0"/>
              <a:buChar char="•"/>
            </a:pPr>
            <a:r>
              <a:rPr lang="en-IN" sz="2000" b="1" dirty="0"/>
              <a:t>Advanced AI Tutoring</a:t>
            </a:r>
            <a:r>
              <a:rPr lang="en-IN" sz="2000" dirty="0"/>
              <a:t> – Enable interactive follow-up questions and doubt clarification.</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1AEDAC5C-E3CC-925C-63C2-E70CF0DDE55A}"/>
              </a:ext>
            </a:extLst>
          </p:cNvPr>
          <p:cNvPicPr>
            <a:picLocks noChangeAspect="1"/>
          </p:cNvPicPr>
          <p:nvPr/>
        </p:nvPicPr>
        <p:blipFill>
          <a:blip r:embed="rId2"/>
          <a:stretch>
            <a:fillRect/>
          </a:stretch>
        </p:blipFill>
        <p:spPr>
          <a:xfrm>
            <a:off x="2392635" y="1367169"/>
            <a:ext cx="6897063" cy="495735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D21D3A5C-F89A-7E06-098E-18D3D1FDB71B}"/>
              </a:ext>
            </a:extLst>
          </p:cNvPr>
          <p:cNvPicPr>
            <a:picLocks noChangeAspect="1"/>
          </p:cNvPicPr>
          <p:nvPr/>
        </p:nvPicPr>
        <p:blipFill>
          <a:blip r:embed="rId2"/>
          <a:stretch>
            <a:fillRect/>
          </a:stretch>
        </p:blipFill>
        <p:spPr>
          <a:xfrm>
            <a:off x="1909650" y="1313320"/>
            <a:ext cx="8049748" cy="501084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1576</Words>
  <Application>Microsoft Office PowerPoint</Application>
  <PresentationFormat>Widescreen</PresentationFormat>
  <Paragraphs>179</Paragraphs>
  <Slides>29</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S0433368</cp:lastModifiedBy>
  <cp:revision>6</cp:revision>
  <dcterms:created xsi:type="dcterms:W3CDTF">2025-07-08T05:06:56Z</dcterms:created>
  <dcterms:modified xsi:type="dcterms:W3CDTF">2026-09-10T12:05:43Z</dcterms:modified>
</cp:coreProperties>
</file>